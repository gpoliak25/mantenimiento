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5" y="1127714"/>
            <a:ext cx="10566357" cy="50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5" y="1935443"/>
            <a:ext cx="10566415" cy="41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nap.nationalacademies.org/read/22965/chapter/8" TargetMode="External"/><Relationship Id="rId2" Type="http://schemas.openxmlformats.org/officeDocument/2006/relationships/hyperlink" Target="https://www.transit.dot.gov/sites/fta.dot.gov/files/docs/regulations-and-programs/safety/public-transportation-agency-safety-program/134686/national-public-transportation-safety-planexcerpt.pdf" TargetMode="External"/><Relationship Id="rId3" Type="http://schemas.openxmlformats.org/officeDocument/2006/relationships/hyperlink" Target="https://www.transit.dot.gov/sites/fta.dot.gov/files/docs/regulations-and-guidance/asset-management/130646/tamsmallmediumproviders071118.pdf" TargetMode="External"/><Relationship Id="rId4" Type="http://schemas.openxmlformats.org/officeDocument/2006/relationships/hyperlink" Target="https://www.mass.gov/info-details/pioneer-valley-transit-authority-finding-3" TargetMode="External"/><Relationship Id="rId5" Type="http://schemas.openxmlformats.org/officeDocument/2006/relationships/hyperlink" Target="https://octa.net/pdf/IntAud-06-10-20RevenueVehicleMaintenance.pdf" TargetMode="External"/><Relationship Id="rId6" Type="http://schemas.openxmlformats.org/officeDocument/2006/relationships/hyperlink" Target="https://www.metrotransit.org/maintenance-teams-exceed-annual-performance-goals" TargetMode="External"/><Relationship Id="rId7" Type="http://schemas.openxmlformats.org/officeDocument/2006/relationships/hyperlink" Target="https://itsmarta.com/bsc_bus_ntd_mdbf.aspx" TargetMode="External"/><Relationship Id="rId8" Type="http://schemas.openxmlformats.org/officeDocument/2006/relationships/hyperlink" Target="https://www.sfmta.com/reports/muni-mean-distance-between-failure" TargetMode="External"/><Relationship Id="rId9" Type="http://schemas.openxmlformats.org/officeDocument/2006/relationships/hyperlink" Target="https://doi.org/10.17226/29236" TargetMode="External"/><Relationship Id="rId10" Type="http://schemas.openxmlformats.org/officeDocument/2006/relationships/hyperlink" Target="https://www.uitp.org/case-studies/expanding-prognostics-and-integrating-machine-learning-with-bus-telematics/" TargetMode="External"/><Relationship Id="rId11" Type="http://schemas.openxmlformats.org/officeDocument/2006/relationships/hyperlink" Target="https://heavyvehicleinspection.com/blog/post/fleet-maintenance-kpis" TargetMode="External"/><Relationship Id="rId12" Type="http://schemas.openxmlformats.org/officeDocument/2006/relationships/hyperlink" Target="https://oxmaint.com/industries/fleet-management/fleet-maintenance-kpis-essential-metrics-fleet-managers" TargetMode="External"/><Relationship Id="rId13" Type="http://schemas.openxmlformats.org/officeDocument/2006/relationships/hyperlink" Target="https://wiss.com/predictive-maintenance-roi-cost-savings-for-manufacturers/" TargetMode="External"/><Relationship Id="rId14" Type="http://schemas.openxmlformats.org/officeDocument/2006/relationships/hyperlink" Target="https://www.oreilly.com/content/predictive-maintenance/" TargetMode="External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MANTENIMIENTO · FLOTA DE COLECTIVOS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280069"/>
            <a:ext cx="10883348" cy="1945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de flota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transporte público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785" y="3454283"/>
            <a:ext cx="7717715" cy="711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reparación reactiva a la gestión por datos: unidades disponibles, seguras y al menor costo total.</a:t>
            </a:r>
            <a:endParaRPr lang="en-US" sz="20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0" r="0" t="-2910" b="-2910"/>
          <a:stretch/>
        </p:blipFill>
        <p:spPr>
          <a:xfrm>
            <a:off x="2133571" y="5295857"/>
            <a:ext cx="7924786" cy="47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44700" y="5219627"/>
            <a:ext cx="177741" cy="1777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 w="25400">
            <a:solidFill>
              <a:srgbClr val="F28C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79974" y="5536995"/>
            <a:ext cx="1107193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86271" y="5219627"/>
            <a:ext cx="177741" cy="1777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 w="25400">
            <a:solidFill>
              <a:srgbClr val="F28C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46857" y="5536995"/>
            <a:ext cx="105657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27842" y="5219627"/>
            <a:ext cx="177741" cy="1777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 w="25400">
            <a:solidFill>
              <a:srgbClr val="F28C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3320" y="5536995"/>
            <a:ext cx="106671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969413" y="5219627"/>
            <a:ext cx="177741" cy="177741"/>
          </a:xfrm>
          <a:prstGeom prst="roundRect">
            <a:avLst>
              <a:gd name="adj" fmla="val 50000"/>
            </a:avLst>
          </a:prstGeom>
          <a:solidFill>
            <a:srgbClr val="F28C3A"/>
          </a:solidFill>
          <a:ln w="25400">
            <a:solidFill>
              <a:srgbClr val="F28C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86960" y="5536995"/>
            <a:ext cx="114264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3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 una falla en ruta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3"/>
            <a:ext cx="2520936" cy="1775619"/>
          </a:xfrm>
          <a:prstGeom prst="roundRect">
            <a:avLst>
              <a:gd name="adj" fmla="val 5543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74" y="2092487"/>
            <a:ext cx="222717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274" y="2381986"/>
            <a:ext cx="222717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en ruta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5274" y="2737483"/>
            <a:ext cx="2227177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unidad queda detenida o sale de servicio.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5602" y="1938603"/>
            <a:ext cx="2521009" cy="1775619"/>
          </a:xfrm>
          <a:prstGeom prst="roundRect">
            <a:avLst>
              <a:gd name="adj" fmla="val 5543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4916" y="2092487"/>
            <a:ext cx="222725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4916" y="2381986"/>
            <a:ext cx="2338520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afectado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74916" y="2737483"/>
            <a:ext cx="222725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Viajes cancelados y más espera entre unidades.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5317" y="1938603"/>
            <a:ext cx="2520936" cy="1775619"/>
          </a:xfrm>
          <a:prstGeom prst="roundRect">
            <a:avLst>
              <a:gd name="adj" fmla="val 5543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4631" y="2092487"/>
            <a:ext cx="222717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4631" y="2381986"/>
            <a:ext cx="222717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Pasajeros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4631" y="2737483"/>
            <a:ext cx="2227177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esperas y riesgo si falla un sistema de seguridad.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54959" y="1938603"/>
            <a:ext cx="2521009" cy="1775619"/>
          </a:xfrm>
          <a:prstGeom prst="roundRect">
            <a:avLst>
              <a:gd name="adj" fmla="val 5543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3" y="2092487"/>
            <a:ext cx="222725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34273" y="2381986"/>
            <a:ext cx="222725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34273" y="2737483"/>
            <a:ext cx="222725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Remolque, reparación urgente y unidad de reemplazo.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785" y="4022182"/>
            <a:ext cx="10566357" cy="1270000"/>
          </a:xfrm>
          <a:prstGeom prst="roundRect">
            <a:avLst>
              <a:gd name="adj" fmla="val 10000"/>
            </a:avLst>
          </a:prstGeom>
          <a:solidFill>
            <a:srgbClr val="1420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141" y="4199967"/>
            <a:ext cx="2364346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3–9×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3456488" y="4382898"/>
            <a:ext cx="7872598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una reparación reactiva frente a una planificada, según fuentes del sector. A eso se suma el servicio que se deja de prestar.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HeavyVehicleInspection; OxMaint (proveedores de software de flotas). Rango orientativo.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MANTENIMIENTO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tipos de mantenimiento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944835"/>
          <a:ext cx="10556950" cy="3620603"/>
        </p:xfrm>
        <a:graphic>
          <a:graphicData uri="http://schemas.openxmlformats.org/drawingml/2006/table">
            <a:tbl>
              <a:tblPr/>
              <a:tblGrid>
                <a:gridCol w="2322529"/>
                <a:gridCol w="4117210"/>
                <a:gridCol w="4117210"/>
              </a:tblGrid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en colectivos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Preventivo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realiza periódicamente para evitar fallas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Aceite, filtros y frenos según kilometraje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Correctivo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realiza cuando se produce una falla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Reparación de una caja de cambios averiada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Predictivo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Sensores y datos para anticipar fallas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Temperatura o vibración anormal del motor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Proactivo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las causas raíz de fallas recurrentes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Corregir una lubricación que causa roturas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Basado en condición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Interviene cuando el estado real lo requiere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Pastillas de freno según desgaste medido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2590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Detectivo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Busca fallas ocultas en sistemas de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alarmas y sistemas de emergencia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639263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Autónomo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Inspecciones básicas hechas por conductores capacitados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diario de neumáticos, luces y fluidos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6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FLOTA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enfoques prioritarios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3"/>
            <a:ext cx="5200651" cy="1237339"/>
          </a:xfrm>
          <a:prstGeom prst="roundRect">
            <a:avLst>
              <a:gd name="adj" fmla="val 795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5274" y="2117917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416" y="2194058"/>
            <a:ext cx="304785" cy="3047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4772" y="2117917"/>
            <a:ext cx="4359501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4772" y="2448058"/>
            <a:ext cx="4359501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averías con un programa por kilómetros, horas o tiempo.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5317" y="1938603"/>
            <a:ext cx="5200651" cy="1237339"/>
          </a:xfrm>
          <a:prstGeom prst="roundRect">
            <a:avLst>
              <a:gd name="adj" fmla="val 795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4631" y="2117917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1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0772" y="2194058"/>
            <a:ext cx="304785" cy="3047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4128" y="2117917"/>
            <a:ext cx="4359501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964128" y="2448058"/>
            <a:ext cx="4359501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desperfectos y recupera la disponibilidad de los vehículos.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5960" y="3334648"/>
            <a:ext cx="5200651" cy="1237339"/>
          </a:xfrm>
          <a:prstGeom prst="roundRect">
            <a:avLst>
              <a:gd name="adj" fmla="val 795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5274" y="3513962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6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1416" y="3590103"/>
            <a:ext cx="304785" cy="3047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4772" y="3513962"/>
            <a:ext cx="4359501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604772" y="3844103"/>
            <a:ext cx="4359501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 fallas con datos históricos, sensores e inteligencia artificial.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5317" y="3334648"/>
            <a:ext cx="5200651" cy="1237339"/>
          </a:xfrm>
          <a:prstGeom prst="roundRect">
            <a:avLst>
              <a:gd name="adj" fmla="val 795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4631" y="3513962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1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0772" y="3590103"/>
            <a:ext cx="304785" cy="3047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4128" y="3513962"/>
            <a:ext cx="4359501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condición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964128" y="3844103"/>
            <a:ext cx="4359501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reemplazar componentes antes de lo necesario, dentro de los límites de seguridad.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12785" y="4879947"/>
            <a:ext cx="10883348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categorías no son independientes:</a:t>
            </a: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mantenimiento basado en condición suele considerarse parte del preventivo y puede incorporar técnicas predictivas.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MANTIENE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críticos de la unidad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935429"/>
            <a:ext cx="5601377" cy="3570994"/>
          </a:xfrm>
          <a:prstGeom prst="roundRect">
            <a:avLst>
              <a:gd name="adj" fmla="val 3556"/>
            </a:avLst>
          </a:prstGeom>
          <a:solidFill>
            <a:srgbClr val="1420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712" y="2163998"/>
            <a:ext cx="524633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FALLAS MAYORES TÍPICAS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712" y="2428140"/>
            <a:ext cx="5246330" cy="23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Impiden iniciar o completar un viaje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6712" y="2763955"/>
            <a:ext cx="5093524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6712" y="2854341"/>
            <a:ext cx="2092885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50995" y="2868306"/>
            <a:ext cx="299651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Pastillas, discos y circuito de aire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6712" y="3230798"/>
            <a:ext cx="5093524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712" y="3321183"/>
            <a:ext cx="2092885" cy="49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y suspensión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50995" y="3451932"/>
            <a:ext cx="299651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Rótulas, amortiguadores y bolsas de aire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6712" y="3931283"/>
            <a:ext cx="5093524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712" y="4021668"/>
            <a:ext cx="218428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y refrigeración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50995" y="4035633"/>
            <a:ext cx="299651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Aceite, filtros, correas y circuito de agua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66712" y="4398125"/>
            <a:ext cx="5093524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6712" y="4488511"/>
            <a:ext cx="2092885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 y transmisión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50995" y="4502476"/>
            <a:ext cx="299651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Caja, diferencial y cardanes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6712" y="4864968"/>
            <a:ext cx="5093524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6712" y="4955353"/>
            <a:ext cx="2092885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50995" y="4969318"/>
            <a:ext cx="299651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Mecanismo, sensores y cierre seguro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0479" y="1938604"/>
            <a:ext cx="4755489" cy="3564644"/>
          </a:xfrm>
          <a:prstGeom prst="roundRect">
            <a:avLst>
              <a:gd name="adj" fmla="val 3474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5934" y="2168702"/>
            <a:ext cx="437191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CON PLAN PROPIO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5934" y="2432844"/>
            <a:ext cx="4371916" cy="23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Inspecciones y servicios específicos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75934" y="2765484"/>
            <a:ext cx="2071467" cy="924425"/>
          </a:xfrm>
          <a:prstGeom prst="roundRect">
            <a:avLst>
              <a:gd name="adj" fmla="val 8243"/>
            </a:avLst>
          </a:prstGeom>
          <a:solidFill>
            <a:srgbClr val="F3F0E7"/>
          </a:solidFill>
          <a:ln/>
        </p:spPr>
      </p:sp>
      <p:sp>
        <p:nvSpPr>
          <p:cNvPr id="26" name="Text 24"/>
          <p:cNvSpPr/>
          <p:nvPr/>
        </p:nvSpPr>
        <p:spPr>
          <a:xfrm>
            <a:off x="7002860" y="2879772"/>
            <a:ext cx="187214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Neumáticos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02860" y="3164198"/>
            <a:ext cx="187214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Presión, desgaste, alineación y balanceo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48972" y="2765484"/>
            <a:ext cx="2071541" cy="924425"/>
          </a:xfrm>
          <a:prstGeom prst="roundRect">
            <a:avLst>
              <a:gd name="adj" fmla="val 8243"/>
            </a:avLst>
          </a:prstGeom>
          <a:solidFill>
            <a:srgbClr val="F3F0E7"/>
          </a:solidFill>
          <a:ln/>
        </p:spPr>
      </p:sp>
      <p:sp>
        <p:nvSpPr>
          <p:cNvPr id="29" name="Text 27"/>
          <p:cNvSpPr/>
          <p:nvPr/>
        </p:nvSpPr>
        <p:spPr>
          <a:xfrm>
            <a:off x="9175898" y="2879772"/>
            <a:ext cx="1872218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eléctrico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75898" y="3164198"/>
            <a:ext cx="187221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Baterías, alternador, luces y cableado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75934" y="3791480"/>
            <a:ext cx="2071467" cy="924425"/>
          </a:xfrm>
          <a:prstGeom prst="roundRect">
            <a:avLst>
              <a:gd name="adj" fmla="val 8243"/>
            </a:avLst>
          </a:prstGeom>
          <a:solidFill>
            <a:srgbClr val="F3F0E7"/>
          </a:solidFill>
          <a:ln/>
        </p:spPr>
      </p:sp>
      <p:sp>
        <p:nvSpPr>
          <p:cNvPr id="32" name="Text 30"/>
          <p:cNvSpPr/>
          <p:nvPr/>
        </p:nvSpPr>
        <p:spPr>
          <a:xfrm>
            <a:off x="7002860" y="3905765"/>
            <a:ext cx="187214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Climatización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02860" y="4190194"/>
            <a:ext cx="187214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Aire acondicionado y ventilación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48972" y="3791480"/>
            <a:ext cx="2071541" cy="924425"/>
          </a:xfrm>
          <a:prstGeom prst="roundRect">
            <a:avLst>
              <a:gd name="adj" fmla="val 8243"/>
            </a:avLst>
          </a:prstGeom>
          <a:solidFill>
            <a:srgbClr val="F3F0E7"/>
          </a:solidFill>
          <a:ln/>
        </p:spPr>
      </p:sp>
      <p:sp>
        <p:nvSpPr>
          <p:cNvPr id="35" name="Text 33"/>
          <p:cNvSpPr/>
          <p:nvPr/>
        </p:nvSpPr>
        <p:spPr>
          <a:xfrm>
            <a:off x="9175898" y="3905765"/>
            <a:ext cx="1872218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Rampa o elevador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75898" y="4190194"/>
            <a:ext cx="187221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para personas con movilidad reducida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FTA (Plan Nacional de Seguridad del Transporte Público); TRB/TCRP (2010).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 LA UNIDAD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puede medir con sensores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944833"/>
          <a:ext cx="10556950" cy="3496175"/>
        </p:xfrm>
        <a:graphic>
          <a:graphicData uri="http://schemas.openxmlformats.org/drawingml/2006/table">
            <a:tbl>
              <a:tblPr/>
              <a:tblGrid>
                <a:gridCol w="2744807"/>
                <a:gridCol w="4222780"/>
                <a:gridCol w="3589363"/>
              </a:tblGrid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miden los sensores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permiten anticipar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Computadora del motor (ECU)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Códigos de falla y parámetros por bus CAN (J1939)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Fallas activas y recurrentes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y refrigeración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Temperatura de refrigerante, presión de aceite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Recalentamiento y desgaste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Desgaste de pastillas y presión del circuito de aire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a tiempo y fugas de aire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Transmisión y ejes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Temperatura de aceite de la caja y vibración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Desgaste de rodamientos y engranajes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Dirección y suspensión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Presión de bolsas de aire y vibración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Fugas y amortiguadores gastados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Neumáticos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Presión y temperatura de cada rueda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Pinchaduras lentas y desgaste irregular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Ciclos de apertura y corriente del motor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Fallas del mecanismo antes del bloqueo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eléctrico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Tensión de baterías y corriente del alternador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Baterías por agotarse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B"/>
                    </a:solidFill>
                  </a:tcPr>
                </a:tc>
              </a:tr>
              <a:tr h="34961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Batería de tracción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Carga, temperatura y salud (buses eléctricos)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Retiro a tiempo y riesgo térmico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63500" marB="635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habituales; varían según modelo y fabricante. APTA exige comunicación SAE J1939 (NASEM/TCRP, 2025).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PREVENTIVO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 por niveles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935429"/>
            <a:ext cx="10566357" cy="533209"/>
          </a:xfrm>
          <a:prstGeom prst="roundRect">
            <a:avLst>
              <a:gd name="adj" fmla="val 19054"/>
            </a:avLst>
          </a:prstGeom>
          <a:solidFill>
            <a:srgbClr val="14202B"/>
          </a:solidFill>
          <a:ln/>
        </p:spPr>
      </p:sp>
      <p:sp>
        <p:nvSpPr>
          <p:cNvPr id="5" name="Text 3"/>
          <p:cNvSpPr/>
          <p:nvPr/>
        </p:nvSpPr>
        <p:spPr>
          <a:xfrm>
            <a:off x="990571" y="2062355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90639" y="2064854"/>
            <a:ext cx="695935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IoT: temperatura, presión, vibración y fallas.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99631" y="2062355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real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5960" y="2547953"/>
            <a:ext cx="10560007" cy="536266"/>
          </a:xfrm>
          <a:prstGeom prst="roundRect">
            <a:avLst>
              <a:gd name="adj" fmla="val 1835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5274" y="2676410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95342" y="2678909"/>
            <a:ext cx="694966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Conductor: neumáticos, luces, fluidos y pérdidas visibles.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94927" y="2676410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diario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5960" y="3166712"/>
            <a:ext cx="10560007" cy="536266"/>
          </a:xfrm>
          <a:prstGeom prst="roundRect">
            <a:avLst>
              <a:gd name="adj" fmla="val 1835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5274" y="3295166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95342" y="3297665"/>
            <a:ext cx="694966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y servicio básico de la unidad.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94927" y="3295166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5960" y="3785468"/>
            <a:ext cx="10560007" cy="536266"/>
          </a:xfrm>
          <a:prstGeom prst="roundRect">
            <a:avLst>
              <a:gd name="adj" fmla="val 1835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274" y="3913925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95342" y="3916425"/>
            <a:ext cx="694966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intermedia de chasis y sistemas.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94927" y="3913925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5960" y="4404227"/>
            <a:ext cx="10560007" cy="536266"/>
          </a:xfrm>
          <a:prstGeom prst="roundRect">
            <a:avLst>
              <a:gd name="adj" fmla="val 1835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274" y="4532681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C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95342" y="4535181"/>
            <a:ext cx="694966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preventivo mayor.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4927" y="4532681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5960" y="5022983"/>
            <a:ext cx="10560007" cy="536266"/>
          </a:xfrm>
          <a:prstGeom prst="roundRect">
            <a:avLst>
              <a:gd name="adj" fmla="val 1835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274" y="5151441"/>
            <a:ext cx="144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95342" y="5153940"/>
            <a:ext cx="694966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Motor, caja y ejes, según manual y datos de falla.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94927" y="5151441"/>
            <a:ext cx="1701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plan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2785" y="623821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TRB/TCRP (2010), 38 agencias; duración = mediana. Continuo: complemento IoT, no incluido en la encuesta.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6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4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fijan los intervalos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944951"/>
            <a:ext cx="3318904" cy="0"/>
          </a:xfrm>
          <a:prstGeom prst="line">
            <a:avLst/>
          </a:prstGeom>
          <a:noFill/>
          <a:ln w="19050">
            <a:solidFill>
              <a:srgbClr val="142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5" y="2106597"/>
            <a:ext cx="3418472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12785" y="3122597"/>
            <a:ext cx="341847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agencias hace la inspección preventiva cada 2.000 a 6.000 millas (≈3.200 a 9.700 km).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6475" y="1944951"/>
            <a:ext cx="3318904" cy="0"/>
          </a:xfrm>
          <a:prstGeom prst="line">
            <a:avLst/>
          </a:prstGeom>
          <a:noFill/>
          <a:ln w="19050">
            <a:solidFill>
              <a:srgbClr val="1420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475" y="2106597"/>
            <a:ext cx="3418472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436475" y="3122597"/>
            <a:ext cx="341847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agencias hace la inspección exactamente cada 6.000 millas (≈9.700 km).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0165" y="1944951"/>
            <a:ext cx="3318904" cy="0"/>
          </a:xfrm>
          <a:prstGeom prst="line">
            <a:avLst/>
          </a:prstGeom>
          <a:noFill/>
          <a:ln w="19050">
            <a:solidFill>
              <a:srgbClr val="1420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165" y="2106597"/>
            <a:ext cx="3418472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±10%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060165" y="3122597"/>
            <a:ext cx="341847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tolerancia habitual para considerar que un preventivo se hizo a tiempo.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85" y="4250240"/>
            <a:ext cx="11379215" cy="330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operación define intervalos y tareas según su propia flota y condiciones de uso.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785" y="4631165"/>
            <a:ext cx="1088334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sensores IoT, el intervalo puede pasar del kilometraje fijo al estado real de cada componente.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TRB/TCRP (2010), 38 agencias de EE. UU. y Canadá; Pioneer Valley Transit Authority (tolerancia de ±10%).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EN LA UNIDAD Y EN LA NUBE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IoT de la flota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04"/>
            <a:ext cx="1822583" cy="1917759"/>
          </a:xfrm>
          <a:prstGeom prst="roundRect">
            <a:avLst>
              <a:gd name="adj" fmla="val 5400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416" y="2067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6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5201" y="2117843"/>
            <a:ext cx="304785" cy="3047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4416" y="2549556"/>
            <a:ext cx="161647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4416" y="2905057"/>
            <a:ext cx="161647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y ECU miden temperaturas, presiones, vibración y desgaste.</a:t>
            </a:r>
            <a:endParaRPr lang="en-US" sz="12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2717859" y="2827666"/>
            <a:ext cx="203141" cy="13964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00317" y="1938604"/>
            <a:ext cx="1822583" cy="1917759"/>
          </a:xfrm>
          <a:prstGeom prst="roundRect">
            <a:avLst>
              <a:gd name="adj" fmla="val 5400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28772" y="2067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2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79557" y="2117843"/>
            <a:ext cx="304785" cy="3047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28772" y="2549556"/>
            <a:ext cx="161647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128772" y="2905057"/>
            <a:ext cx="161647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a bordo: red celular en ruta o Wi-Fi en la cochera.</a:t>
            </a:r>
            <a:endParaRPr lang="en-US" sz="12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-7" r="-7" t="0" b="0"/>
          <a:stretch/>
        </p:blipFill>
        <p:spPr>
          <a:xfrm>
            <a:off x="4902216" y="2827666"/>
            <a:ext cx="203141" cy="13964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184673" y="1938604"/>
            <a:ext cx="1822583" cy="1917759"/>
          </a:xfrm>
          <a:prstGeom prst="roundRect">
            <a:avLst>
              <a:gd name="adj" fmla="val 5400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13128" y="2067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8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63913" y="2117843"/>
            <a:ext cx="304785" cy="30478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13128" y="2549556"/>
            <a:ext cx="161647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Almacenar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5313128" y="2905057"/>
            <a:ext cx="161647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IoT en la nube: series de tiempo por unidad.</a:t>
            </a:r>
            <a:endParaRPr lang="en-US" sz="1200" dirty="0"/>
          </a:p>
        </p:txBody>
      </p:sp>
      <p:pic>
        <p:nvPicPr>
          <p:cNvPr id="21" name="Image 5" descr="arrow-right">    </p:cNvPr>
          <p:cNvPicPr>
            <a:picLocks noChangeAspect="1"/>
          </p:cNvPicPr>
          <p:nvPr/>
        </p:nvPicPr>
        <p:blipFill>
          <a:blip r:embed="rId6"/>
          <a:srcRect l="-7" r="-7" t="0" b="0"/>
          <a:stretch/>
        </p:blipFill>
        <p:spPr>
          <a:xfrm>
            <a:off x="7086571" y="2827666"/>
            <a:ext cx="203141" cy="139641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69029" y="1938604"/>
            <a:ext cx="1822583" cy="1917759"/>
          </a:xfrm>
          <a:prstGeom prst="roundRect">
            <a:avLst>
              <a:gd name="adj" fmla="val 5400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497484" y="2067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4" name="Image 6" descr="Char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548269" y="2117843"/>
            <a:ext cx="304785" cy="30478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7484" y="2549556"/>
            <a:ext cx="161647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</a:t>
            </a:r>
            <a:endParaRPr lang="en-US" sz="2000" dirty="0"/>
          </a:p>
        </p:txBody>
      </p:sp>
      <p:sp>
        <p:nvSpPr>
          <p:cNvPr id="26" name="Text 17"/>
          <p:cNvSpPr/>
          <p:nvPr/>
        </p:nvSpPr>
        <p:spPr>
          <a:xfrm>
            <a:off x="7497484" y="2905057"/>
            <a:ext cx="161647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detectan anomalías y estiman la vida útil restante.</a:t>
            </a:r>
            <a:endParaRPr lang="en-US" sz="1200" dirty="0"/>
          </a:p>
        </p:txBody>
      </p:sp>
      <p:pic>
        <p:nvPicPr>
          <p:cNvPr id="27" name="Image 7" descr="arrow-right">    </p:cNvPr>
          <p:cNvPicPr>
            <a:picLocks noChangeAspect="1"/>
          </p:cNvPicPr>
          <p:nvPr/>
        </p:nvPicPr>
        <p:blipFill>
          <a:blip r:embed="rId8"/>
          <a:srcRect l="-7" r="-7" t="0" b="0"/>
          <a:stretch/>
        </p:blipFill>
        <p:spPr>
          <a:xfrm>
            <a:off x="9270928" y="2827666"/>
            <a:ext cx="203141" cy="139641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53385" y="1938604"/>
            <a:ext cx="1822583" cy="1917759"/>
          </a:xfrm>
          <a:prstGeom prst="roundRect">
            <a:avLst>
              <a:gd name="adj" fmla="val 5400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9681840" y="2067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30" name="Image 8" descr="Wrench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732625" y="2117843"/>
            <a:ext cx="304785" cy="30478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681840" y="2549556"/>
            <a:ext cx="161647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</a:t>
            </a:r>
            <a:endParaRPr lang="en-US" sz="2000" dirty="0"/>
          </a:p>
        </p:txBody>
      </p:sp>
      <p:sp>
        <p:nvSpPr>
          <p:cNvPr id="32" name="Text 21"/>
          <p:cNvSpPr/>
          <p:nvPr/>
        </p:nvSpPr>
        <p:spPr>
          <a:xfrm>
            <a:off x="9681840" y="2905057"/>
            <a:ext cx="1616472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y orden de trabajo en el sistema de gestión y el ERP.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812785" y="4164323"/>
            <a:ext cx="10566357" cy="1168283"/>
          </a:xfrm>
          <a:prstGeom prst="roundRect">
            <a:avLst>
              <a:gd name="adj" fmla="val 10871"/>
            </a:avLst>
          </a:prstGeom>
          <a:solidFill>
            <a:srgbClr val="14202B"/>
          </a:solidFill>
          <a:ln/>
        </p:spPr>
      </p:sp>
      <p:sp>
        <p:nvSpPr>
          <p:cNvPr id="34" name="Text 23"/>
          <p:cNvSpPr/>
          <p:nvPr/>
        </p:nvSpPr>
        <p:spPr>
          <a:xfrm>
            <a:off x="1066712" y="4342110"/>
            <a:ext cx="10360259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1066712" y="4606249"/>
            <a:ext cx="10360259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temperatura de refrigerante en ascenso sostenido genera una alerta y una orden de trabajo antes de que la unidad se recaliente en ruta.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NASEM/TCRP (2025); UITP (MTA New York City Transit, 2022).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PREDICTIVO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08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e IA en la flota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598"/>
            <a:ext cx="4105423" cy="3237736"/>
          </a:xfrm>
          <a:prstGeom prst="roundRect">
            <a:avLst>
              <a:gd name="adj" fmla="val 3824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30" y="2143268"/>
            <a:ext cx="3806965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LA FLOTA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20630" y="2435944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630" y="2513673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Kilometraje y antigüedad de cada unidad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20630" y="2798645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0630" y="2876373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reparaciones y fallas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0630" y="3161345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630" y="3239074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de repuestos y mano de obra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0630" y="3524039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0630" y="3601768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combustible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0630" y="3886740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0630" y="3964468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sensores IoT y telemetría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0630" y="4249440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0630" y="4327169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de ingreso al taller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0630" y="4612140"/>
            <a:ext cx="3696083" cy="0"/>
          </a:xfrm>
          <a:prstGeom prst="line">
            <a:avLst/>
          </a:prstGeom>
          <a:noFill/>
          <a:ln w="6350">
            <a:solidFill>
              <a:srgbClr val="E3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630" y="4689869"/>
            <a:ext cx="3806965" cy="230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indisponibilidad de cada colectivo</a:t>
            </a:r>
            <a:endParaRPr lang="en-US" sz="1200" dirty="0"/>
          </a:p>
        </p:txBody>
      </p:sp>
      <p:pic>
        <p:nvPicPr>
          <p:cNvPr id="20" name="Image 0" descr="arrow-right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5076914" y="3443182"/>
            <a:ext cx="355571" cy="22857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584841" y="1935423"/>
            <a:ext cx="2254324" cy="3244086"/>
          </a:xfrm>
          <a:prstGeom prst="roundRect">
            <a:avLst>
              <a:gd name="adj" fmla="val 5634"/>
            </a:avLst>
          </a:prstGeom>
          <a:solidFill>
            <a:srgbClr val="14202B"/>
          </a:solidFill>
          <a:ln/>
        </p:spPr>
      </p:sp>
      <p:sp>
        <p:nvSpPr>
          <p:cNvPr id="22" name="Text 19"/>
          <p:cNvSpPr/>
          <p:nvPr/>
        </p:nvSpPr>
        <p:spPr>
          <a:xfrm>
            <a:off x="5787982" y="2761295"/>
            <a:ext cx="1903483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87982" y="3076222"/>
            <a:ext cx="1903483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e IA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787982" y="3736504"/>
            <a:ext cx="190348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avanzada sobre el historial y los datos en tiempo real de cada unidad</a:t>
            </a:r>
            <a:endParaRPr lang="en-US" sz="1200" dirty="0"/>
          </a:p>
        </p:txBody>
      </p:sp>
      <p:pic>
        <p:nvPicPr>
          <p:cNvPr id="25" name="Image 1" descr="arrow-right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7991520" y="3443182"/>
            <a:ext cx="355571" cy="228571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502621" y="1938598"/>
            <a:ext cx="2873346" cy="3237736"/>
          </a:xfrm>
          <a:prstGeom prst="roundRect">
            <a:avLst>
              <a:gd name="adj" fmla="val 4309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707292" y="2143268"/>
            <a:ext cx="253792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707292" y="2483551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29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58077" y="2534338"/>
            <a:ext cx="203141" cy="20314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13648" y="2483551"/>
            <a:ext cx="211938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fallas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707292" y="2915264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32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58077" y="2966052"/>
            <a:ext cx="203141" cy="20314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13648" y="2915264"/>
            <a:ext cx="2119380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los planes de mantenimiento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8707292" y="3590764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35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58077" y="3641545"/>
            <a:ext cx="203141" cy="20314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113648" y="3590764"/>
            <a:ext cx="2119380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el costo total de operación de la flota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22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PREDICTIVO</a:t>
            </a:r>
            <a:endParaRPr lang="en-US" sz="112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11027"/>
            <a:ext cx="10883348" cy="489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333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esperar del mantenimiento predictivo</a:t>
            </a:r>
            <a:endParaRPr lang="en-US" sz="3330" dirty="0"/>
          </a:p>
        </p:txBody>
      </p:sp>
      <p:sp>
        <p:nvSpPr>
          <p:cNvPr id="4" name="Shape 2"/>
          <p:cNvSpPr/>
          <p:nvPr/>
        </p:nvSpPr>
        <p:spPr>
          <a:xfrm>
            <a:off x="815960" y="1882818"/>
            <a:ext cx="3414199" cy="2579732"/>
          </a:xfrm>
          <a:prstGeom prst="roundRect">
            <a:avLst>
              <a:gd name="adj" fmla="val 381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74" y="2062131"/>
            <a:ext cx="3147238" cy="170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93"/>
              </a:lnSpc>
              <a:buNone/>
            </a:pPr>
            <a:r>
              <a:rPr lang="en-US" sz="6593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18–30%</a:t>
            </a:r>
            <a:endParaRPr lang="en-US" sz="6593" dirty="0"/>
          </a:p>
        </p:txBody>
      </p:sp>
      <p:sp>
        <p:nvSpPr>
          <p:cNvPr id="6" name="Text 4"/>
          <p:cNvSpPr/>
          <p:nvPr/>
        </p:nvSpPr>
        <p:spPr>
          <a:xfrm>
            <a:off x="995274" y="3791849"/>
            <a:ext cx="3147238" cy="277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costo de mantenimiento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274" y="4094429"/>
            <a:ext cx="3147238" cy="214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129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18–25%. DOE/PNNL: 30%.</a:t>
            </a:r>
            <a:endParaRPr lang="en-US" sz="1129" dirty="0"/>
          </a:p>
        </p:txBody>
      </p:sp>
      <p:sp>
        <p:nvSpPr>
          <p:cNvPr id="8" name="Shape 6"/>
          <p:cNvSpPr/>
          <p:nvPr/>
        </p:nvSpPr>
        <p:spPr>
          <a:xfrm>
            <a:off x="4388865" y="1882818"/>
            <a:ext cx="3414199" cy="2579732"/>
          </a:xfrm>
          <a:prstGeom prst="roundRect">
            <a:avLst>
              <a:gd name="adj" fmla="val 381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179" y="2062131"/>
            <a:ext cx="3147238" cy="170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93"/>
              </a:lnSpc>
              <a:buNone/>
            </a:pPr>
            <a:r>
              <a:rPr lang="en-US" sz="6593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endParaRPr lang="en-US" sz="6593" dirty="0"/>
          </a:p>
        </p:txBody>
      </p:sp>
      <p:sp>
        <p:nvSpPr>
          <p:cNvPr id="10" name="Text 8"/>
          <p:cNvSpPr/>
          <p:nvPr/>
        </p:nvSpPr>
        <p:spPr>
          <a:xfrm>
            <a:off x="4568179" y="3791849"/>
            <a:ext cx="3147238" cy="277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paradas no planificadas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8179" y="4094429"/>
            <a:ext cx="3147238" cy="214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129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McKinsey: 30–50%. DOE/PNNL: 45%.</a:t>
            </a:r>
            <a:endParaRPr lang="en-US" sz="1129" dirty="0"/>
          </a:p>
        </p:txBody>
      </p:sp>
      <p:sp>
        <p:nvSpPr>
          <p:cNvPr id="12" name="Shape 10"/>
          <p:cNvSpPr/>
          <p:nvPr/>
        </p:nvSpPr>
        <p:spPr>
          <a:xfrm>
            <a:off x="7961769" y="1882818"/>
            <a:ext cx="3414199" cy="2579732"/>
          </a:xfrm>
          <a:prstGeom prst="roundRect">
            <a:avLst>
              <a:gd name="adj" fmla="val 3815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1083" y="2062131"/>
            <a:ext cx="3147238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141083" y="3027350"/>
            <a:ext cx="3147238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citado de reducción de averías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1083" y="3626700"/>
            <a:ext cx="314723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DOE/PNNL: en el mejor de los casos.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85" y="4770512"/>
            <a:ext cx="10566357" cy="1071489"/>
          </a:xfrm>
          <a:prstGeom prst="roundRect">
            <a:avLst>
              <a:gd name="adj" fmla="val 9482"/>
            </a:avLst>
          </a:prstGeom>
          <a:solidFill>
            <a:srgbClr val="ECE7D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5927" y="5077650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8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068" y="5153788"/>
            <a:ext cx="304785" cy="30478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25424" y="4894864"/>
            <a:ext cx="9837095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industriales, no de colectivos.</a:t>
            </a: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resultado depende de la calidad de los datos y de los sistemas que se monitoreen; conviene empezar con sensores en los sistemas críticos de unas pocas unidades.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McKinsey (vía Wiss); DOE/PNNL (vía O'Reilly). Rangos de plantas industriales.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REFERENCIA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 New York City Transit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85" y="1732217"/>
            <a:ext cx="1088334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 5.800 buses: de la alerta después de la falla al pronóstico antes de la falla.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60" y="2314457"/>
            <a:ext cx="2520936" cy="2649700"/>
          </a:xfrm>
          <a:prstGeom prst="roundRect">
            <a:avLst>
              <a:gd name="adj" fmla="val 3904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5274" y="2493770"/>
            <a:ext cx="2227177" cy="185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95274" y="4373420"/>
            <a:ext cx="222717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precisión en las alertas de pronóstico (piloto)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02" y="2314457"/>
            <a:ext cx="2521009" cy="2649700"/>
          </a:xfrm>
          <a:prstGeom prst="roundRect">
            <a:avLst>
              <a:gd name="adj" fmla="val 3904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4916" y="2493770"/>
            <a:ext cx="2227252" cy="185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−43%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674916" y="4373420"/>
            <a:ext cx="2227252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horas de trabajo en los casos estudiados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5317" y="2314457"/>
            <a:ext cx="2520936" cy="2649700"/>
          </a:xfrm>
          <a:prstGeom prst="roundRect">
            <a:avLst>
              <a:gd name="adj" fmla="val 3904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4631" y="2493770"/>
            <a:ext cx="2227177" cy="185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354631" y="4373420"/>
            <a:ext cx="222717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costo de materiales en los casos estudiados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4959" y="2314457"/>
            <a:ext cx="2521009" cy="2649700"/>
          </a:xfrm>
          <a:prstGeom prst="roundRect">
            <a:avLst>
              <a:gd name="adj" fmla="val 3904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3" y="2493770"/>
            <a:ext cx="2227252" cy="93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034273" y="3458989"/>
            <a:ext cx="222725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de reparación accionables a partir de 100 millones de datos y 10.000 códigos de falla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85" y="5272119"/>
            <a:ext cx="10883348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camino: alertas y diagnóstico tras la falla, pronóstico de componentes críticos y aprendizaje automático para problemas recurrentes.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UITP, caso MTA New York City Transit (2022). Resultados de piloto y casos estudiados.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TALLER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 del taller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15475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71045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6" name="Text 4"/>
          <p:cNvSpPr/>
          <p:nvPr/>
        </p:nvSpPr>
        <p:spPr>
          <a:xfrm>
            <a:off x="863585" y="2392573"/>
            <a:ext cx="165942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585" y="2727784"/>
            <a:ext cx="165942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Conductor, inspección o alerta automática de sensores.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3808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9" name="Text 7"/>
          <p:cNvSpPr/>
          <p:nvPr/>
        </p:nvSpPr>
        <p:spPr>
          <a:xfrm>
            <a:off x="3276571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32141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11" name="Text 9"/>
          <p:cNvSpPr/>
          <p:nvPr/>
        </p:nvSpPr>
        <p:spPr>
          <a:xfrm>
            <a:off x="2624608" y="2392573"/>
            <a:ext cx="1659496" cy="49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de trabajo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24608" y="2961425"/>
            <a:ext cx="1659496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registra la unidad y el síntoma; una alerta puede generarla sola.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904" y="2100498"/>
            <a:ext cx="702689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14" name="Text 12"/>
          <p:cNvSpPr/>
          <p:nvPr/>
        </p:nvSpPr>
        <p:spPr>
          <a:xfrm>
            <a:off x="5037594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3165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5704" y="2392573"/>
            <a:ext cx="165942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5704" y="2727784"/>
            <a:ext cx="165942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confirma la causa y el alcance de la reparación.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5927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8690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54261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21" name="Text 19"/>
          <p:cNvSpPr/>
          <p:nvPr/>
        </p:nvSpPr>
        <p:spPr>
          <a:xfrm>
            <a:off x="6146727" y="2392573"/>
            <a:ext cx="1659496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46727" y="2727784"/>
            <a:ext cx="165949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verifica el stock o se solicita la compra.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57024" y="2100498"/>
            <a:ext cx="702689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24" name="Text 22"/>
          <p:cNvSpPr/>
          <p:nvPr/>
        </p:nvSpPr>
        <p:spPr>
          <a:xfrm>
            <a:off x="8559713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15284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26" name="Text 24"/>
          <p:cNvSpPr/>
          <p:nvPr/>
        </p:nvSpPr>
        <p:spPr>
          <a:xfrm>
            <a:off x="7907824" y="2392573"/>
            <a:ext cx="1659423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Reparación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07824" y="2727784"/>
            <a:ext cx="165942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con el procedimiento del fabricante.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18046" y="2100498"/>
            <a:ext cx="702763" cy="25356"/>
          </a:xfrm>
          <a:prstGeom prst="rect">
            <a:avLst/>
          </a:prstGeom>
          <a:solidFill>
            <a:srgbClr val="B8B09B"/>
          </a:solidFill>
          <a:ln/>
        </p:spPr>
      </p:sp>
      <p:sp>
        <p:nvSpPr>
          <p:cNvPr id="29" name="Text 27"/>
          <p:cNvSpPr/>
          <p:nvPr/>
        </p:nvSpPr>
        <p:spPr>
          <a:xfrm>
            <a:off x="10320810" y="1935429"/>
            <a:ext cx="355571" cy="355571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68846" y="2392573"/>
            <a:ext cx="1659496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 cierre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68846" y="2727784"/>
            <a:ext cx="1659496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prueba, se libera la unidad y se registra todo.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785" y="3883354"/>
            <a:ext cx="10566357" cy="944710"/>
          </a:xfrm>
          <a:prstGeom prst="roundRect">
            <a:avLst>
              <a:gd name="adj" fmla="val 13443"/>
            </a:avLst>
          </a:prstGeom>
          <a:solidFill>
            <a:srgbClr val="1420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6712" y="4127134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34" name="Image 0" descr="Lin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2853" y="4203278"/>
            <a:ext cx="304785" cy="304785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726994" y="4086492"/>
            <a:ext cx="968016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CICLO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726994" y="4350637"/>
            <a:ext cx="968016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fallas no planificadas se analizan y sus causas actualizan el plan preventivo.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TRB/TCRP (2010). Analizar las fallas no planificadas y sus causas mejora la confiabilidad.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Y LOGÍSTICA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repuestos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598"/>
            <a:ext cx="3075532" cy="1181482"/>
          </a:xfrm>
          <a:prstGeom prst="roundRect">
            <a:avLst>
              <a:gd name="adj" fmla="val 8331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74" y="2117917"/>
            <a:ext cx="2798411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ADELANTADO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274" y="2382056"/>
            <a:ext cx="2798411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de repuestos</a:t>
            </a:r>
            <a:endParaRPr lang="en-US" sz="20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4047023" y="2415059"/>
            <a:ext cx="355571" cy="2285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58124" y="1938598"/>
            <a:ext cx="3075605" cy="1181482"/>
          </a:xfrm>
          <a:prstGeom prst="roundRect">
            <a:avLst>
              <a:gd name="adj" fmla="val 8331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7439" y="2117917"/>
            <a:ext cx="279848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37439" y="2382056"/>
            <a:ext cx="2798486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reparación (MTTR)</a:t>
            </a:r>
            <a:endParaRPr lang="en-US" sz="20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7789261" y="2415059"/>
            <a:ext cx="355571" cy="2285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00362" y="1938598"/>
            <a:ext cx="3075605" cy="1181482"/>
          </a:xfrm>
          <a:prstGeom prst="roundRect">
            <a:avLst>
              <a:gd name="adj" fmla="val 8331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79676" y="2117917"/>
            <a:ext cx="279848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79676" y="2382056"/>
            <a:ext cx="2798486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la orden de trabajo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12785" y="342804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785" y="3742972"/>
            <a:ext cx="2527286" cy="1823420"/>
          </a:xfrm>
          <a:prstGeom prst="roundRect">
            <a:avLst>
              <a:gd name="adj" fmla="val 5572"/>
            </a:avLst>
          </a:prstGeom>
          <a:solidFill>
            <a:srgbClr val="ECE7DB"/>
          </a:solidFill>
          <a:ln/>
        </p:spPr>
      </p:sp>
      <p:sp>
        <p:nvSpPr>
          <p:cNvPr id="17" name="Text 13"/>
          <p:cNvSpPr/>
          <p:nvPr/>
        </p:nvSpPr>
        <p:spPr>
          <a:xfrm>
            <a:off x="990571" y="3920759"/>
            <a:ext cx="223686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90571" y="4210255"/>
            <a:ext cx="2236866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Criticidad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90571" y="4565749"/>
            <a:ext cx="2236866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repuestos por su impacto en el servicio y fijar stock de seguridad para los críticos.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492427" y="3742972"/>
            <a:ext cx="2527359" cy="1823420"/>
          </a:xfrm>
          <a:prstGeom prst="roundRect">
            <a:avLst>
              <a:gd name="adj" fmla="val 5572"/>
            </a:avLst>
          </a:prstGeom>
          <a:solidFill>
            <a:srgbClr val="ECE7DB"/>
          </a:solidFill>
          <a:ln/>
        </p:spPr>
      </p:sp>
      <p:sp>
        <p:nvSpPr>
          <p:cNvPr id="21" name="Text 17"/>
          <p:cNvSpPr/>
          <p:nvPr/>
        </p:nvSpPr>
        <p:spPr>
          <a:xfrm>
            <a:off x="3670212" y="3920759"/>
            <a:ext cx="223694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70212" y="4210255"/>
            <a:ext cx="223694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Kits y alertas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3670212" y="4565749"/>
            <a:ext cx="223694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los repuestos de cada inspección A, B y C y anticiparlos con alertas de sensores.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142" y="3742972"/>
            <a:ext cx="2527286" cy="1823420"/>
          </a:xfrm>
          <a:prstGeom prst="roundRect">
            <a:avLst>
              <a:gd name="adj" fmla="val 5572"/>
            </a:avLst>
          </a:prstGeom>
          <a:solidFill>
            <a:srgbClr val="ECE7DB"/>
          </a:solidFill>
          <a:ln/>
        </p:spPr>
      </p:sp>
      <p:sp>
        <p:nvSpPr>
          <p:cNvPr id="25" name="Text 21"/>
          <p:cNvSpPr/>
          <p:nvPr/>
        </p:nvSpPr>
        <p:spPr>
          <a:xfrm>
            <a:off x="6349927" y="3920759"/>
            <a:ext cx="2236866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49927" y="4210255"/>
            <a:ext cx="2236866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349927" y="4565749"/>
            <a:ext cx="2236866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Acordar plazos de entrega y precios con contratos marco.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851784" y="3742972"/>
            <a:ext cx="2527359" cy="1823420"/>
          </a:xfrm>
          <a:prstGeom prst="roundRect">
            <a:avLst>
              <a:gd name="adj" fmla="val 5572"/>
            </a:avLst>
          </a:prstGeom>
          <a:solidFill>
            <a:srgbClr val="ECE7DB"/>
          </a:solidFill>
          <a:ln/>
        </p:spPr>
      </p:sp>
      <p:sp>
        <p:nvSpPr>
          <p:cNvPr id="29" name="Text 25"/>
          <p:cNvSpPr/>
          <p:nvPr/>
        </p:nvSpPr>
        <p:spPr>
          <a:xfrm>
            <a:off x="9029569" y="3920759"/>
            <a:ext cx="223694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029569" y="4210255"/>
            <a:ext cx="223694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Rotables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9029569" y="4565749"/>
            <a:ext cx="223694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componentes reacondicionados (motores, cajas, compresores) para reducir la inmovilización.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12785" y="6238211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HeavyVehicleInspection. La disponibilidad de repuestos anticipa el MTTR y el ciclo de la orden de trabajo.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clave (KPIs)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193" y="1944837"/>
          <a:ext cx="10556950" cy="3203811"/>
        </p:xfrm>
        <a:graphic>
          <a:graphicData uri="http://schemas.openxmlformats.org/drawingml/2006/table">
            <a:tbl>
              <a:tblPr/>
              <a:tblGrid>
                <a:gridCol w="3167085"/>
                <a:gridCol w="2744807"/>
                <a:gridCol w="4645058"/>
              </a:tblGrid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calcula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 de flota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listas para operar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disponibles ÷ flota total ×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Distancia media entre fallas (MDBF)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Confiabilidad en 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 en servicio ÷ cantidad de fallas mayores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medio de reparación (MTTR)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Rapidez para volver a 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de reparación ÷ cantidad de reparaciones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Cumplimiento del preventivo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Preventivos hechos a 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Preventivos dentro de ±10% ÷ programados ×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Mantenimiento planificado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 del trabajo programado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planificadas ÷ horas totales ×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por kilómetro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económica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 de mantenimiento ÷ km recorridos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EE"/>
                    </a:solidFill>
                  </a:tcPr>
                </a:tc>
              </a:tr>
              <a:tr h="400476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 esperada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9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Confiabilidad y rapidez combinadas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MTBF (tiempo medio entre fallas) ÷ (MTBF + MTTR) ×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FTA; SFMTA; HeavyVehicleInspection; OxMaint.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14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distancia entre fallas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10"/>
            <a:ext cx="6134116" cy="3375540"/>
          </a:xfrm>
          <a:prstGeom prst="roundRect">
            <a:avLst>
              <a:gd name="adj" fmla="val 3668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30" y="2143274"/>
            <a:ext cx="5896519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DE DISTANCIA MEDIA ENTRE FALLAS (KM)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0630" y="2508982"/>
            <a:ext cx="5896519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Beach Transit (EE. UU.)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0630" y="2765487"/>
            <a:ext cx="1644606" cy="279356"/>
          </a:xfrm>
          <a:prstGeom prst="roundRect">
            <a:avLst>
              <a:gd name="adj" fmla="val 18185"/>
            </a:avLst>
          </a:prstGeom>
          <a:solidFill>
            <a:srgbClr val="E8691E"/>
          </a:solidFill>
          <a:ln/>
        </p:spPr>
      </p:sp>
      <p:sp>
        <p:nvSpPr>
          <p:cNvPr id="8" name="Text 6"/>
          <p:cNvSpPr/>
          <p:nvPr/>
        </p:nvSpPr>
        <p:spPr>
          <a:xfrm>
            <a:off x="2766807" y="2765487"/>
            <a:ext cx="128772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9.700 km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0630" y="3197200"/>
            <a:ext cx="5896519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MARTA (Atlanta, EE. UU.)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0630" y="3453693"/>
            <a:ext cx="2051036" cy="279356"/>
          </a:xfrm>
          <a:prstGeom prst="roundRect">
            <a:avLst>
              <a:gd name="adj" fmla="val 18185"/>
            </a:avLst>
          </a:prstGeom>
          <a:solidFill>
            <a:srgbClr val="E8691E"/>
          </a:solidFill>
          <a:ln/>
        </p:spPr>
      </p:sp>
      <p:sp>
        <p:nvSpPr>
          <p:cNvPr id="11" name="Text 9"/>
          <p:cNvSpPr/>
          <p:nvPr/>
        </p:nvSpPr>
        <p:spPr>
          <a:xfrm>
            <a:off x="3173237" y="3453693"/>
            <a:ext cx="145723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12.100 km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0630" y="3885406"/>
            <a:ext cx="5896519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SFMTA – Muni (San Francisco, EE. UU.)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0630" y="4141912"/>
            <a:ext cx="3270177" cy="279356"/>
          </a:xfrm>
          <a:prstGeom prst="roundRect">
            <a:avLst>
              <a:gd name="adj" fmla="val 18185"/>
            </a:avLst>
          </a:prstGeom>
          <a:solidFill>
            <a:srgbClr val="E8691E"/>
          </a:solidFill>
          <a:ln/>
        </p:spPr>
      </p:sp>
      <p:sp>
        <p:nvSpPr>
          <p:cNvPr id="14" name="Text 12"/>
          <p:cNvSpPr/>
          <p:nvPr/>
        </p:nvSpPr>
        <p:spPr>
          <a:xfrm>
            <a:off x="4392378" y="4141912"/>
            <a:ext cx="145723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19.300 km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0630" y="4573625"/>
            <a:ext cx="5896519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 (Condado de Orange, EE. UU.)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0630" y="4830118"/>
            <a:ext cx="3809927" cy="279356"/>
          </a:xfrm>
          <a:prstGeom prst="roundRect">
            <a:avLst>
              <a:gd name="adj" fmla="val 18185"/>
            </a:avLst>
          </a:prstGeom>
          <a:solidFill>
            <a:srgbClr val="E8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2128" y="4830118"/>
            <a:ext cx="145723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22.500 km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56392" y="1935435"/>
            <a:ext cx="4222750" cy="3381890"/>
          </a:xfrm>
          <a:prstGeom prst="roundRect">
            <a:avLst>
              <a:gd name="adj" fmla="val 3755"/>
            </a:avLst>
          </a:prstGeom>
          <a:solidFill>
            <a:srgbClr val="1420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59534" y="2138573"/>
            <a:ext cx="393096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59534" y="2478856"/>
            <a:ext cx="393096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agencia define «falla» a su manera: fallas mayores, llamadas de ruta o fallas reportables.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59534" y="3428640"/>
            <a:ext cx="3930962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Conviene fijar una definición y comparar contra la propia tendencia.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59534" y="4104134"/>
            <a:ext cx="393096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Transit (Minneapolis–St. Paul) promedió 7.501 millas (≈12.100 km) entre llamadas de ruta en 2020, con foco en el preventivo, los proveedores y la opinión de los conductores.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Long Beach Transit (FTA), MARTA, SFMTA, OCTA, Metro Transit. Millas convertidas a km.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20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del mantenimiento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10"/>
            <a:ext cx="3414199" cy="1404908"/>
          </a:xfrm>
          <a:prstGeom prst="roundRect">
            <a:avLst>
              <a:gd name="adj" fmla="val 7006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5274" y="2194061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060" y="2244849"/>
            <a:ext cx="304785" cy="3047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3201" y="2117923"/>
            <a:ext cx="2624073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cada unidad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95274" y="2752775"/>
            <a:ext cx="314723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Historial, kilometraje y componentes de cada colectivo.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8865" y="1938610"/>
            <a:ext cx="3414199" cy="1404908"/>
          </a:xfrm>
          <a:prstGeom prst="roundRect">
            <a:avLst>
              <a:gd name="adj" fmla="val 7006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8179" y="2117923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1" name="Image 1" descr="Wren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8964" y="2168711"/>
            <a:ext cx="304785" cy="3047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6105" y="2181423"/>
            <a:ext cx="2624073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 trabajo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68179" y="2600412"/>
            <a:ext cx="314723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Solicitud, tiempos, mano de obra y repuestos usados.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61769" y="1938610"/>
            <a:ext cx="3414199" cy="1404908"/>
          </a:xfrm>
          <a:prstGeom prst="roundRect">
            <a:avLst>
              <a:gd name="adj" fmla="val 7006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41083" y="2117923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16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1868" y="2168711"/>
            <a:ext cx="304785" cy="3047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9010" y="2181423"/>
            <a:ext cx="2624073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preventivo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141083" y="2600412"/>
            <a:ext cx="314723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por km o tiempo y alertas de vencimiento.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60" y="3502223"/>
            <a:ext cx="3414199" cy="1252552"/>
          </a:xfrm>
          <a:prstGeom prst="roundRect">
            <a:avLst>
              <a:gd name="adj" fmla="val 7858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5274" y="3757675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1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6060" y="3808462"/>
            <a:ext cx="304785" cy="3047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3201" y="3681537"/>
            <a:ext cx="2624073" cy="58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compras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95274" y="4316388"/>
            <a:ext cx="3147238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y pedidos integrados con el ERP.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8865" y="3502223"/>
            <a:ext cx="3414199" cy="1252552"/>
          </a:xfrm>
          <a:prstGeom prst="roundRect">
            <a:avLst>
              <a:gd name="adj" fmla="val 7858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68179" y="3681537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6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18964" y="3732324"/>
            <a:ext cx="304785" cy="3047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76105" y="3745037"/>
            <a:ext cx="2624073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e IoT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4568179" y="4164037"/>
            <a:ext cx="3147238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sensores y códigos de falla en tiempo real.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61769" y="3502223"/>
            <a:ext cx="3414199" cy="1252552"/>
          </a:xfrm>
          <a:prstGeom prst="roundRect">
            <a:avLst>
              <a:gd name="adj" fmla="val 7858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41083" y="3681537"/>
            <a:ext cx="406356" cy="406356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31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91868" y="3732324"/>
            <a:ext cx="304785" cy="30478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9010" y="3745037"/>
            <a:ext cx="2624073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de KPIs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8141083" y="4164037"/>
            <a:ext cx="323171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Disponibilidad, MDBF, MTTR y costo por km.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12785" y="5062736"/>
            <a:ext cx="10566357" cy="660356"/>
          </a:xfrm>
          <a:prstGeom prst="roundRect">
            <a:avLst>
              <a:gd name="adj" fmla="val 19232"/>
            </a:avLst>
          </a:prstGeom>
          <a:solidFill>
            <a:srgbClr val="14202B"/>
          </a:solidFill>
          <a:ln/>
        </p:spPr>
        <p:txBody>
          <a:bodyPr wrap="square" lIns="216729" tIns="140603" rIns="0" bIns="115174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único por unidad es la base para medir, predecir y decidir.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20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de implementación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610"/>
            <a:ext cx="2520936" cy="1953404"/>
          </a:xfrm>
          <a:prstGeom prst="roundRect">
            <a:avLst>
              <a:gd name="adj" fmla="val 5039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5274" y="2117923"/>
            <a:ext cx="507927" cy="50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sp>
        <p:nvSpPr>
          <p:cNvPr id="6" name="Text 4"/>
          <p:cNvSpPr/>
          <p:nvPr/>
        </p:nvSpPr>
        <p:spPr>
          <a:xfrm>
            <a:off x="995274" y="2244849"/>
            <a:ext cx="222717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274" y="2534345"/>
            <a:ext cx="222717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95274" y="2889845"/>
            <a:ext cx="2227177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unidades, fallas, costos y estado del taller.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95602" y="1938610"/>
            <a:ext cx="2521009" cy="1953404"/>
          </a:xfrm>
          <a:prstGeom prst="roundRect">
            <a:avLst>
              <a:gd name="adj" fmla="val 5039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4916" y="2117923"/>
            <a:ext cx="1015927" cy="50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sp>
        <p:nvSpPr>
          <p:cNvPr id="11" name="Text 9"/>
          <p:cNvSpPr/>
          <p:nvPr/>
        </p:nvSpPr>
        <p:spPr>
          <a:xfrm>
            <a:off x="3674916" y="2244849"/>
            <a:ext cx="222725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3–6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4916" y="2534345"/>
            <a:ext cx="222725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74916" y="2889845"/>
            <a:ext cx="222725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por niveles, órdenes de trabajo y gestión de repuestos.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5317" y="1938610"/>
            <a:ext cx="2520936" cy="1953404"/>
          </a:xfrm>
          <a:prstGeom prst="roundRect">
            <a:avLst>
              <a:gd name="adj" fmla="val 5039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4631" y="2117923"/>
            <a:ext cx="1523927" cy="50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4631" y="2244849"/>
            <a:ext cx="2227177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6–12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4631" y="2534345"/>
            <a:ext cx="2227177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4631" y="2889845"/>
            <a:ext cx="2227177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y telemetría IoT en unidades piloto; KPIs básicos.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54959" y="1938610"/>
            <a:ext cx="2521009" cy="1953404"/>
          </a:xfrm>
          <a:prstGeom prst="roundRect">
            <a:avLst>
              <a:gd name="adj" fmla="val 5039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34273" y="2117923"/>
            <a:ext cx="2031927" cy="50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sp>
        <p:nvSpPr>
          <p:cNvPr id="21" name="Text 19"/>
          <p:cNvSpPr/>
          <p:nvPr/>
        </p:nvSpPr>
        <p:spPr>
          <a:xfrm>
            <a:off x="9034273" y="2244849"/>
            <a:ext cx="2227252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3" y="2534345"/>
            <a:ext cx="2227252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34273" y="2889845"/>
            <a:ext cx="2227252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predictivos en sistemas críticos y análisis de causa raíz.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785" y="4199967"/>
            <a:ext cx="10566357" cy="893998"/>
          </a:xfrm>
          <a:prstGeom prst="roundRect">
            <a:avLst>
              <a:gd name="adj" fmla="val 14206"/>
            </a:avLst>
          </a:prstGeom>
          <a:solidFill>
            <a:srgbClr val="1420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712" y="4418397"/>
            <a:ext cx="457141" cy="457141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26" name="Image 0" descr="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2853" y="4494547"/>
            <a:ext cx="304785" cy="30478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726994" y="4377754"/>
            <a:ext cx="968016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PASO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726994" y="4641900"/>
            <a:ext cx="968016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hoy disponibilidad, MDBF y MTTR: sin línea de base no se puede comprobar la mejora.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Plazos orientativos; se ajustan al tamaño de la flota y a la madurez del taller.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7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APRENDIZAJES DE AGENCIAS DE TRANSPORTE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08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factores de éxito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85" y="1935423"/>
            <a:ext cx="5202297" cy="3458987"/>
          </a:xfrm>
          <a:prstGeom prst="roundRect">
            <a:avLst>
              <a:gd name="adj" fmla="val 3672"/>
            </a:avLst>
          </a:prstGeom>
          <a:solidFill>
            <a:srgbClr val="14202B"/>
          </a:solidFill>
          <a:ln/>
        </p:spPr>
      </p:sp>
      <p:sp>
        <p:nvSpPr>
          <p:cNvPr id="5" name="Text 3"/>
          <p:cNvSpPr/>
          <p:nvPr/>
        </p:nvSpPr>
        <p:spPr>
          <a:xfrm>
            <a:off x="1041356" y="2163998"/>
            <a:ext cx="488751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41356" y="2555131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7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141" y="2605918"/>
            <a:ext cx="203141" cy="2031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73068" y="2555131"/>
            <a:ext cx="4442847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 fuera de plazo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73068" y="2826854"/>
            <a:ext cx="444284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PVTA (auditoría): preventivos con atrasos de hasta 6.070 millas (≈9.800 km).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1356" y="3416064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11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2141" y="3466840"/>
            <a:ext cx="203141" cy="203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73068" y="3416064"/>
            <a:ext cx="4442847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incompletas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73068" y="3687775"/>
            <a:ext cx="4442847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 (auditoría interna): las plantillas de órdenes de trabajo omitían tareas que recomienda el fabricante.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41356" y="4276985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E8691E"/>
          </a:solidFill>
          <a:ln/>
        </p:spPr>
      </p:sp>
      <p:pic>
        <p:nvPicPr>
          <p:cNvPr id="15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2141" y="4327773"/>
            <a:ext cx="203141" cy="20314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73068" y="4276985"/>
            <a:ext cx="4442847" cy="25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de la sensorización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73068" y="4548696"/>
            <a:ext cx="4442847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NASEM (2025): costos iniciales y suscripciones, integración con sistemas existentes, datos propietarios del fabricante y escepticismo de los técnicos.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0613" y="1938598"/>
            <a:ext cx="5205354" cy="3452637"/>
          </a:xfrm>
          <a:prstGeom prst="roundRect">
            <a:avLst>
              <a:gd name="adj" fmla="val 3586"/>
            </a:avLst>
          </a:prstGeom>
          <a:solidFill>
            <a:srgbClr val="FFFEFA"/>
          </a:solidFill>
          <a:ln w="6350">
            <a:solidFill>
              <a:srgbClr val="D3CCB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713" y="2168699"/>
            <a:ext cx="488751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ÉXITO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713" y="2508982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1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1498" y="2559769"/>
            <a:ext cx="203141" cy="20314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7068" y="2524199"/>
            <a:ext cx="44689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en el mantenimiento preventivo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400713" y="2940695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4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51498" y="2991483"/>
            <a:ext cx="203141" cy="20314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07068" y="2955900"/>
            <a:ext cx="44689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sólida con proveedores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400713" y="3372408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27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51498" y="3423183"/>
            <a:ext cx="203141" cy="20314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07068" y="3387613"/>
            <a:ext cx="44689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Atender el reporte de los conductores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400713" y="3925974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30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51498" y="3976762"/>
            <a:ext cx="203141" cy="20314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07068" y="3804121"/>
            <a:ext cx="4468964" cy="57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confiables de sensores y órdenes de trabajo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400713" y="4479615"/>
            <a:ext cx="304785" cy="304785"/>
          </a:xfrm>
          <a:prstGeom prst="roundRect">
            <a:avLst>
              <a:gd name="adj" fmla="val 50000"/>
            </a:avLst>
          </a:prstGeom>
          <a:solidFill>
            <a:srgbClr val="14202B"/>
          </a:solidFill>
          <a:ln/>
        </p:spPr>
      </p:sp>
      <p:pic>
        <p:nvPicPr>
          <p:cNvPr id="33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51498" y="4530403"/>
            <a:ext cx="203141" cy="20314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07068" y="4494820"/>
            <a:ext cx="446896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 indicadores claros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6400713" y="4911328"/>
            <a:ext cx="488751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Transit atribuye su desempeño a los tres primeros.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12785" y="6238205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PVTA y OCTA (auditorías); NASEM/TCRP (2025); Metro Transit. Millas convertidas a km.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08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598"/>
            <a:ext cx="3414199" cy="2121047"/>
          </a:xfrm>
          <a:prstGeom prst="roundRect">
            <a:avLst>
              <a:gd name="adj" fmla="val 4640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30" y="2143274"/>
            <a:ext cx="3095004" cy="482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20630" y="2676624"/>
            <a:ext cx="3095004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enfoques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0630" y="3032125"/>
            <a:ext cx="3095004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 como base, predictivo en los sistemas críticos y correctivo para el resto.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865" y="1938598"/>
            <a:ext cx="3414199" cy="2121047"/>
          </a:xfrm>
          <a:prstGeom prst="roundRect">
            <a:avLst>
              <a:gd name="adj" fmla="val 4640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535" y="2143274"/>
            <a:ext cx="3095004" cy="482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93535" y="2676624"/>
            <a:ext cx="3095004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Sensorizar lo crítico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3535" y="3032125"/>
            <a:ext cx="3095004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temperatura, presión, vibración y desgaste para actuar antes de la falla.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61769" y="1938598"/>
            <a:ext cx="3414199" cy="2121047"/>
          </a:xfrm>
          <a:prstGeom prst="roundRect">
            <a:avLst>
              <a:gd name="adj" fmla="val 4640"/>
            </a:avLst>
          </a:prstGeom>
          <a:solidFill>
            <a:srgbClr val="1C2B38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6439" y="2143274"/>
            <a:ext cx="3095004" cy="482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28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66439" y="2676624"/>
            <a:ext cx="3095004" cy="30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el ciclo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66439" y="3032125"/>
            <a:ext cx="3095004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9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alerta y cada falla se analizan y mejoran el plan de mantenimiento.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85" y="4367609"/>
            <a:ext cx="10566357" cy="975210"/>
          </a:xfrm>
          <a:prstGeom prst="roundRect">
            <a:avLst>
              <a:gd name="adj" fmla="val 13023"/>
            </a:avLst>
          </a:prstGeom>
          <a:solidFill>
            <a:srgbClr val="E8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712" y="4570747"/>
            <a:ext cx="10360259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6712" y="4834892"/>
            <a:ext cx="10360259" cy="330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la flota y piloto de sensores en unas pocas unidades.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5" y="81278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CONSULTADO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5" y="1127708"/>
            <a:ext cx="10883348" cy="52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referencias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60" y="1938598"/>
            <a:ext cx="5200651" cy="3123818"/>
          </a:xfrm>
          <a:prstGeom prst="roundRect">
            <a:avLst>
              <a:gd name="adj" fmla="val 3151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630" y="2143274"/>
            <a:ext cx="493505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FLOTAS DE TRANSPORTE PÚBLICO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0630" y="2420057"/>
            <a:ext cx="499280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TRB/TCRP (2010).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Preventive Maintenance Intervals for Transit Buses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0630" y="2689200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Nacional de Seguridad del Transporte Público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0630" y="2958331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Transit Asset Management, caso Long Beach Transit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0630" y="3227474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Auditoría, hallazgo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0630" y="3496618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Auditoría interna de mantenimiento de vehículos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0630" y="3765761"/>
            <a:ext cx="499280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Transit.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Maintenance teams exceed annual performance goals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0630" y="4034892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Distancia media entre fallas (MDBF)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0630" y="4304035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SFMTA.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Muni, distancia media entre fallas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5317" y="1938598"/>
            <a:ext cx="5200651" cy="3123818"/>
          </a:xfrm>
          <a:prstGeom prst="roundRect">
            <a:avLst>
              <a:gd name="adj" fmla="val 3151"/>
            </a:avLst>
          </a:prstGeom>
          <a:solidFill>
            <a:srgbClr val="FFFEFA"/>
          </a:solidFill>
          <a:ln w="6350">
            <a:solidFill>
              <a:srgbClr val="D8D1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9987" y="2143274"/>
            <a:ext cx="4935050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3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IOT, DATOS Y PREDICTIVO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79987" y="2420057"/>
            <a:ext cx="493505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NASEM/TCRP (2025).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of Automatic Vehicle Monitoring, Vehicle Health Monitoring, and Diagnostic Systems by Transit Agencies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9987" y="2894905"/>
            <a:ext cx="493505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UITP (2022).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MTA New York City Transit: pronóstico y aprendizaje automático con telemática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79987" y="3369766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HeavyVehicleInspection.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Fleet maintenance KPIs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9987" y="3638897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OxMaint.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Fleet maintenance KPIs: essential metrics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9987" y="3908041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Predictive maintenance ROI (cita a McKinsey)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9987" y="4177184"/>
            <a:ext cx="4935050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O'Reilly.</a:t>
            </a:r>
            <a:r>
              <a:rPr lang="en-US" sz="1200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u="sng" dirty="0">
                <a:solidFill>
                  <a:srgbClr val="14202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Predictive maintenance (cita a DOE/PNNL)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9987" y="4446327"/>
            <a:ext cx="4935050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variables de la tabla de sensores y el esquema IoT son ejemplos habituales de telemática; no corresponden a un único fabricante.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785" y="6238218"/>
            <a:ext cx="10883348" cy="23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tipos de mantenimiento y la sección de ciencia de datos e IA provienen del material aportado por quien presenta.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tenimiento de flota de transporte público">
  <a:themeElements>
    <a:clrScheme name="Mantenimiento de flota de transporte público">
      <a:dk1>
        <a:srgbClr val="14202B"/>
      </a:dk1>
      <a:lt1>
        <a:srgbClr val="F6F4EE"/>
      </a:lt1>
      <a:dk2>
        <a:srgbClr val="4D555C"/>
      </a:dk2>
      <a:lt2>
        <a:srgbClr val="DFDFDB"/>
      </a:lt2>
      <a:accent1>
        <a:srgbClr val="A8360A"/>
      </a:accent1>
      <a:accent2>
        <a:srgbClr val="F28C3A"/>
      </a:accent2>
      <a:accent3>
        <a:srgbClr val="E8691E"/>
      </a:accent3>
      <a:accent4>
        <a:srgbClr val="4A5560"/>
      </a:accent4>
      <a:accent5>
        <a:srgbClr val="B9C4CC"/>
      </a:accent5>
      <a:accent6>
        <a:srgbClr val="B8B09B"/>
      </a:accent6>
      <a:hlink>
        <a:srgbClr val="0563C1"/>
      </a:hlink>
      <a:folHlink>
        <a:srgbClr val="954F72"/>
      </a:folHlink>
    </a:clrScheme>
    <a:fontScheme name="Mantenimiento de flota de transporte públic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Mantenimiento de flota de transporte público</dc:title>
  <dc:subject/>
  <dc:creator/>
  <cp:lastModifiedBy/>
  <cp:revision>1</cp:revision>
  <dcterms:created xsi:type="dcterms:W3CDTF">2026-10-12T17:30:56Z</dcterms:created>
  <dcterms:modified xsi:type="dcterms:W3CDTF">2026-10-12T17:30:56Z</dcterms:modified>
</cp:coreProperties>
</file>